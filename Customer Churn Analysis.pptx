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8" r:id="rId3"/>
    <p:sldId id="271" r:id="rId4"/>
    <p:sldId id="260" r:id="rId5"/>
    <p:sldId id="261" r:id="rId6"/>
    <p:sldId id="265" r:id="rId7"/>
    <p:sldId id="266" r:id="rId8"/>
    <p:sldId id="264" r:id="rId9"/>
    <p:sldId id="267" r:id="rId10"/>
    <p:sldId id="268" r:id="rId11"/>
    <p:sldId id="269" r:id="rId12"/>
    <p:sldId id="270" r:id="rId13"/>
    <p:sldId id="259" r:id="rId14"/>
  </p:sldIdLst>
  <p:sldSz cx="12192000" cy="6858000"/>
  <p:notesSz cx="6858000" cy="9144000"/>
  <p:embeddedFontLst>
    <p:embeddedFont>
      <p:font typeface="Libre Baskerville" panose="02000000000000000000" pitchFamily="2" charset="0"/>
      <p:regular r:id="rId16"/>
      <p:bold r:id="rId17"/>
      <p: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C20301-3A36-4474-81E3-81B10477526C}" v="47" dt="2025-12-11T10:35:20.0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4" d="100"/>
          <a:sy n="74" d="100"/>
        </p:scale>
        <p:origin x="104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756400"/>
          </a:xfrm>
          <a:prstGeom prst="rect">
            <a:avLst/>
          </a:prstGeom>
          <a:noFill/>
          <a:ln>
            <a:noFill/>
          </a:ln>
        </p:spPr>
      </p:pic>
      <p:sp>
        <p:nvSpPr>
          <p:cNvPr id="99" name="Google Shape;99;p1"/>
          <p:cNvSpPr txBox="1"/>
          <p:nvPr/>
        </p:nvSpPr>
        <p:spPr>
          <a:xfrm>
            <a:off x="0" y="3778946"/>
            <a:ext cx="12192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3600" b="0" i="0" u="none" strike="noStrike" cap="none" dirty="0">
                <a:solidFill>
                  <a:schemeClr val="dk1"/>
                </a:solidFill>
                <a:latin typeface="Calibri"/>
                <a:ea typeface="Calibri"/>
                <a:cs typeface="Calibri"/>
                <a:sym typeface="Calibri"/>
              </a:rPr>
              <a:t>Telco Customer Churn Analysis </a:t>
            </a:r>
            <a:endParaRPr sz="36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007F2A40-C234-AF50-D74C-BB61BB771996}"/>
              </a:ext>
            </a:extLst>
          </p:cNvPr>
          <p:cNvSpPr txBox="1"/>
          <p:nvPr/>
        </p:nvSpPr>
        <p:spPr>
          <a:xfrm>
            <a:off x="375920" y="5374640"/>
            <a:ext cx="3058160" cy="707886"/>
          </a:xfrm>
          <a:prstGeom prst="rect">
            <a:avLst/>
          </a:prstGeom>
          <a:noFill/>
        </p:spPr>
        <p:txBody>
          <a:bodyPr wrap="square" rtlCol="0">
            <a:spAutoFit/>
          </a:bodyPr>
          <a:lstStyle/>
          <a:p>
            <a:r>
              <a:rPr lang="en-US" sz="2000" dirty="0"/>
              <a:t>Name : Abdul Azeem S </a:t>
            </a:r>
          </a:p>
          <a:p>
            <a:r>
              <a:rPr lang="en-US" sz="2000" dirty="0"/>
              <a:t>Batch :436</a:t>
            </a:r>
            <a:endParaRPr lang="en-IN"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 (This should be the PPT flow)  </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endParaRPr lang="en-IN" sz="2400" b="1" dirty="0"/>
          </a:p>
          <a:p>
            <a:pPr indent="-431800">
              <a:buSzPts val="2400"/>
            </a:pPr>
            <a:r>
              <a:rPr lang="en-IN" sz="2400" b="1" dirty="0">
                <a:solidFill>
                  <a:schemeClr val="tx1"/>
                </a:solidFill>
              </a:rPr>
              <a:t>Business Problem Statement</a:t>
            </a:r>
          </a:p>
          <a:p>
            <a:pPr marL="457200" lvl="0" indent="-431800" algn="l" rtl="0">
              <a:lnSpc>
                <a:spcPct val="90000"/>
              </a:lnSpc>
              <a:spcBef>
                <a:spcPts val="1000"/>
              </a:spcBef>
              <a:spcAft>
                <a:spcPts val="0"/>
              </a:spcAft>
              <a:buSzPts val="2400"/>
              <a:buChar char="•"/>
            </a:pPr>
            <a:r>
              <a:rPr lang="en-IN" sz="2400" b="1" dirty="0"/>
              <a:t>Objective of the Project</a:t>
            </a:r>
          </a:p>
          <a:p>
            <a:pPr marL="457200" lvl="0" indent="-431800" algn="l" rtl="0">
              <a:lnSpc>
                <a:spcPct val="90000"/>
              </a:lnSpc>
              <a:spcBef>
                <a:spcPts val="1000"/>
              </a:spcBef>
              <a:spcAft>
                <a:spcPts val="0"/>
              </a:spcAft>
              <a:buSzPts val="2400"/>
              <a:buChar char="•"/>
            </a:pPr>
            <a:r>
              <a:rPr lang="en-IN" sz="2400" b="1" dirty="0"/>
              <a:t>Key analysis questions </a:t>
            </a:r>
          </a:p>
          <a:p>
            <a:pPr marL="457200" lvl="0" indent="-431800" algn="l" rtl="0">
              <a:lnSpc>
                <a:spcPct val="90000"/>
              </a:lnSpc>
              <a:spcBef>
                <a:spcPts val="1000"/>
              </a:spcBef>
              <a:spcAft>
                <a:spcPts val="0"/>
              </a:spcAft>
              <a:buSzPts val="2400"/>
              <a:buChar char="•"/>
            </a:pPr>
            <a:r>
              <a:rPr lang="en-IN" sz="2400" b="1" dirty="0"/>
              <a:t>Power Bi query results with screenshots or summaries</a:t>
            </a:r>
            <a:endParaRPr sz="2400" dirty="0"/>
          </a:p>
          <a:p>
            <a:pPr marL="457200" lvl="0" indent="-431800" algn="l" rtl="0">
              <a:lnSpc>
                <a:spcPct val="90000"/>
              </a:lnSpc>
              <a:spcBef>
                <a:spcPts val="1000"/>
              </a:spcBef>
              <a:spcAft>
                <a:spcPts val="0"/>
              </a:spcAft>
              <a:buSzPts val="2400"/>
              <a:buChar char="•"/>
            </a:pPr>
            <a:r>
              <a:rPr lang="en-IN" sz="2400" b="1" dirty="0"/>
              <a:t>Final business insights and recommendations</a:t>
            </a:r>
            <a:endParaRPr sz="2400" dirty="0"/>
          </a:p>
          <a:p>
            <a:pPr marL="457200" lvl="0" indent="-431800" algn="l" rtl="0">
              <a:lnSpc>
                <a:spcPct val="90000"/>
              </a:lnSpc>
              <a:spcBef>
                <a:spcPts val="1000"/>
              </a:spcBef>
              <a:spcAft>
                <a:spcPts val="0"/>
              </a:spcAft>
              <a:buSzPts val="2400"/>
              <a:buChar char="•"/>
            </a:pPr>
            <a:r>
              <a:rPr lang="en-IN" sz="2400" b="1" dirty="0"/>
              <a:t>Conclusion</a:t>
            </a:r>
            <a:endParaRPr sz="2400" dirty="0"/>
          </a:p>
          <a:p>
            <a:pPr marL="457200" lvl="0" indent="-431800" algn="l" rtl="0">
              <a:lnSpc>
                <a:spcPct val="90000"/>
              </a:lnSpc>
              <a:spcBef>
                <a:spcPts val="1000"/>
              </a:spcBef>
              <a:spcAft>
                <a:spcPts val="0"/>
              </a:spcAft>
              <a:buSzPts val="2400"/>
              <a:buChar char="•"/>
            </a:pPr>
            <a:r>
              <a:rPr lang="en-IN" sz="2400" b="1" dirty="0"/>
              <a:t>Your Experience/Challenges working on Power Bi  – Data Analysis Project.</a:t>
            </a: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3E29B-EEDE-8B39-5653-EB0630648842}"/>
              </a:ext>
            </a:extLst>
          </p:cNvPr>
          <p:cNvSpPr>
            <a:spLocks noGrp="1"/>
          </p:cNvSpPr>
          <p:nvPr>
            <p:ph type="title"/>
          </p:nvPr>
        </p:nvSpPr>
        <p:spPr/>
        <p:txBody>
          <a:bodyPr/>
          <a:lstStyle/>
          <a:p>
            <a:r>
              <a:rPr lang="en-IN" dirty="0">
                <a:solidFill>
                  <a:srgbClr val="FF0000"/>
                </a:solidFill>
              </a:rPr>
              <a:t>Business Problem Statement</a:t>
            </a:r>
          </a:p>
        </p:txBody>
      </p:sp>
      <p:sp>
        <p:nvSpPr>
          <p:cNvPr id="3" name="Text Placeholder 2">
            <a:extLst>
              <a:ext uri="{FF2B5EF4-FFF2-40B4-BE49-F238E27FC236}">
                <a16:creationId xmlns:a16="http://schemas.microsoft.com/office/drawing/2014/main" id="{57B1BC4B-23F6-CDFD-2AB6-4728A93466C4}"/>
              </a:ext>
            </a:extLst>
          </p:cNvPr>
          <p:cNvSpPr>
            <a:spLocks noGrp="1"/>
          </p:cNvSpPr>
          <p:nvPr>
            <p:ph type="body" idx="1"/>
          </p:nvPr>
        </p:nvSpPr>
        <p:spPr>
          <a:xfrm>
            <a:off x="736600" y="1642745"/>
            <a:ext cx="10967720" cy="3173095"/>
          </a:xfrm>
        </p:spPr>
        <p:txBody>
          <a:bodyPr/>
          <a:lstStyle/>
          <a:p>
            <a:pPr marL="114300" indent="0" algn="just">
              <a:buNone/>
            </a:pPr>
            <a:r>
              <a:rPr lang="en-US" dirty="0"/>
              <a:t>The company is losing a significant number of customers each month but does not clearly understand why they are leaving. Without knowing which customers are at risk or what factors drive churn, the business cannot take effective steps to retain them. A detailed churn analysis is needed to identify the causes, highlight high-risk segments, and support better retention strategies.</a:t>
            </a:r>
            <a:endParaRPr lang="en-IN" dirty="0"/>
          </a:p>
        </p:txBody>
      </p:sp>
    </p:spTree>
    <p:extLst>
      <p:ext uri="{BB962C8B-B14F-4D97-AF65-F5344CB8AC3E}">
        <p14:creationId xmlns:p14="http://schemas.microsoft.com/office/powerpoint/2010/main" val="2989058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899AA-E086-43A9-E201-F59191FDE880}"/>
              </a:ext>
            </a:extLst>
          </p:cNvPr>
          <p:cNvSpPr>
            <a:spLocks noGrp="1"/>
          </p:cNvSpPr>
          <p:nvPr>
            <p:ph type="title"/>
          </p:nvPr>
        </p:nvSpPr>
        <p:spPr/>
        <p:txBody>
          <a:bodyPr/>
          <a:lstStyle/>
          <a:p>
            <a:r>
              <a:rPr lang="en-IN" b="1" dirty="0">
                <a:solidFill>
                  <a:srgbClr val="FF0000"/>
                </a:solidFill>
              </a:rPr>
              <a:t>Objective of the Project</a:t>
            </a:r>
            <a:br>
              <a:rPr lang="en-IN" dirty="0">
                <a:solidFill>
                  <a:srgbClr val="FF0000"/>
                </a:solidFill>
              </a:rPr>
            </a:br>
            <a:endParaRPr lang="en-IN" dirty="0">
              <a:solidFill>
                <a:srgbClr val="FF0000"/>
              </a:solidFill>
            </a:endParaRPr>
          </a:p>
        </p:txBody>
      </p:sp>
      <p:sp>
        <p:nvSpPr>
          <p:cNvPr id="3" name="Text Placeholder 2">
            <a:extLst>
              <a:ext uri="{FF2B5EF4-FFF2-40B4-BE49-F238E27FC236}">
                <a16:creationId xmlns:a16="http://schemas.microsoft.com/office/drawing/2014/main" id="{A1B58EAA-BA7F-16EB-1E25-98D4D4CCF3C8}"/>
              </a:ext>
            </a:extLst>
          </p:cNvPr>
          <p:cNvSpPr>
            <a:spLocks noGrp="1"/>
          </p:cNvSpPr>
          <p:nvPr>
            <p:ph type="body" idx="1"/>
          </p:nvPr>
        </p:nvSpPr>
        <p:spPr>
          <a:xfrm>
            <a:off x="838200" y="1451999"/>
            <a:ext cx="10515600" cy="4351338"/>
          </a:xfrm>
        </p:spPr>
        <p:txBody>
          <a:bodyPr/>
          <a:lstStyle/>
          <a:p>
            <a:pPr marL="114300" indent="0">
              <a:buNone/>
            </a:pPr>
            <a:r>
              <a:rPr lang="en-US" b="1" dirty="0"/>
              <a:t>The main objective of this project was to:</a:t>
            </a:r>
            <a:endParaRPr lang="en-US" dirty="0"/>
          </a:p>
          <a:p>
            <a:r>
              <a:rPr lang="en-US" dirty="0"/>
              <a:t>Analyze customer churn patterns and understand why customers leave.</a:t>
            </a:r>
          </a:p>
          <a:p>
            <a:r>
              <a:rPr lang="en-US" dirty="0"/>
              <a:t>Identify important factors affecting churn (contracts, internet service, billing, add-ons).</a:t>
            </a:r>
          </a:p>
          <a:p>
            <a:r>
              <a:rPr lang="en-US" dirty="0"/>
              <a:t>Develop interactive Power BI dashboards for business stakeholders.</a:t>
            </a:r>
          </a:p>
          <a:p>
            <a:r>
              <a:rPr lang="en-US" dirty="0"/>
              <a:t>Provide data-driven recommendations to reduce churn and improve customer retention.</a:t>
            </a:r>
          </a:p>
          <a:p>
            <a:endParaRPr lang="en-IN" dirty="0"/>
          </a:p>
        </p:txBody>
      </p:sp>
    </p:spTree>
    <p:extLst>
      <p:ext uri="{BB962C8B-B14F-4D97-AF65-F5344CB8AC3E}">
        <p14:creationId xmlns:p14="http://schemas.microsoft.com/office/powerpoint/2010/main" val="2558078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F2620-C24E-F2D5-70F9-1DCCD89FDCA7}"/>
              </a:ext>
            </a:extLst>
          </p:cNvPr>
          <p:cNvSpPr>
            <a:spLocks noGrp="1"/>
          </p:cNvSpPr>
          <p:nvPr>
            <p:ph type="title"/>
          </p:nvPr>
        </p:nvSpPr>
        <p:spPr/>
        <p:txBody>
          <a:bodyPr/>
          <a:lstStyle/>
          <a:p>
            <a:r>
              <a:rPr lang="en-IN" b="1" dirty="0">
                <a:solidFill>
                  <a:srgbClr val="FF0000"/>
                </a:solidFill>
              </a:rPr>
              <a:t>Key analysis questions</a:t>
            </a:r>
            <a:endParaRPr lang="en-IN" dirty="0">
              <a:solidFill>
                <a:srgbClr val="FF0000"/>
              </a:solidFill>
            </a:endParaRPr>
          </a:p>
        </p:txBody>
      </p:sp>
      <p:sp>
        <p:nvSpPr>
          <p:cNvPr id="3" name="Text Placeholder 2">
            <a:extLst>
              <a:ext uri="{FF2B5EF4-FFF2-40B4-BE49-F238E27FC236}">
                <a16:creationId xmlns:a16="http://schemas.microsoft.com/office/drawing/2014/main" id="{74B3D9A3-2A1C-A76D-969F-6977086EA3C0}"/>
              </a:ext>
            </a:extLst>
          </p:cNvPr>
          <p:cNvSpPr>
            <a:spLocks noGrp="1"/>
          </p:cNvSpPr>
          <p:nvPr>
            <p:ph type="body" idx="1"/>
          </p:nvPr>
        </p:nvSpPr>
        <p:spPr/>
        <p:txBody>
          <a:bodyPr/>
          <a:lstStyle/>
          <a:p>
            <a:pPr marL="628650" indent="-514350">
              <a:buFont typeface="+mj-lt"/>
              <a:buAutoNum type="arabicPeriod"/>
            </a:pPr>
            <a:r>
              <a:rPr lang="en-US" dirty="0"/>
              <a:t>Which customers are churning, and what are their characteristics?</a:t>
            </a:r>
          </a:p>
          <a:p>
            <a:pPr marL="628650" indent="-514350">
              <a:buFont typeface="+mj-lt"/>
              <a:buAutoNum type="arabicPeriod"/>
            </a:pPr>
            <a:r>
              <a:rPr lang="en-US" dirty="0"/>
              <a:t>How do contract types and billing methods influence churn behavior?</a:t>
            </a:r>
          </a:p>
          <a:p>
            <a:pPr marL="628650" indent="-514350">
              <a:buFont typeface="+mj-lt"/>
              <a:buAutoNum type="arabicPeriod"/>
            </a:pPr>
            <a:r>
              <a:rPr lang="en-US" dirty="0"/>
              <a:t>What service-related factors (internet type, phone service, add-ons) contribute to churn?</a:t>
            </a:r>
          </a:p>
          <a:p>
            <a:pPr marL="628650" indent="-514350">
              <a:buFont typeface="+mj-lt"/>
              <a:buAutoNum type="arabicPeriod"/>
            </a:pPr>
            <a:r>
              <a:rPr lang="en-US" dirty="0"/>
              <a:t>How does customer tenure impact churn probability?</a:t>
            </a:r>
          </a:p>
          <a:p>
            <a:pPr marL="628650" indent="-514350">
              <a:buFont typeface="+mj-lt"/>
              <a:buAutoNum type="arabicPeriod"/>
            </a:pPr>
            <a:r>
              <a:rPr lang="en-US" dirty="0"/>
              <a:t>What is the revenue impact of churn (lost vs retained revenue)?</a:t>
            </a:r>
          </a:p>
          <a:p>
            <a:pPr marL="628650" indent="-514350">
              <a:buFont typeface="+mj-lt"/>
              <a:buAutoNum type="arabicPeriod"/>
            </a:pPr>
            <a:r>
              <a:rPr lang="en-US" dirty="0"/>
              <a:t>Which customer segments are at the highest risk of churning?</a:t>
            </a:r>
            <a:endParaRPr lang="en-IN" dirty="0"/>
          </a:p>
        </p:txBody>
      </p:sp>
    </p:spTree>
    <p:extLst>
      <p:ext uri="{BB962C8B-B14F-4D97-AF65-F5344CB8AC3E}">
        <p14:creationId xmlns:p14="http://schemas.microsoft.com/office/powerpoint/2010/main" val="1970243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33AC3-C1D6-0AB7-EC77-EE0779109C49}"/>
              </a:ext>
            </a:extLst>
          </p:cNvPr>
          <p:cNvSpPr>
            <a:spLocks noGrp="1"/>
          </p:cNvSpPr>
          <p:nvPr>
            <p:ph type="title"/>
          </p:nvPr>
        </p:nvSpPr>
        <p:spPr>
          <a:xfrm>
            <a:off x="712466" y="370389"/>
            <a:ext cx="3932237" cy="714737"/>
          </a:xfrm>
        </p:spPr>
        <p:txBody>
          <a:bodyPr/>
          <a:lstStyle/>
          <a:p>
            <a:r>
              <a:rPr lang="en-IN" dirty="0">
                <a:solidFill>
                  <a:srgbClr val="FF0000"/>
                </a:solidFill>
              </a:rPr>
              <a:t>Customer Overview</a:t>
            </a:r>
          </a:p>
        </p:txBody>
      </p:sp>
      <p:sp>
        <p:nvSpPr>
          <p:cNvPr id="4" name="Text Placeholder 3">
            <a:extLst>
              <a:ext uri="{FF2B5EF4-FFF2-40B4-BE49-F238E27FC236}">
                <a16:creationId xmlns:a16="http://schemas.microsoft.com/office/drawing/2014/main" id="{796B11E1-8882-132C-4F48-C6511B36DFAF}"/>
              </a:ext>
            </a:extLst>
          </p:cNvPr>
          <p:cNvSpPr>
            <a:spLocks noGrp="1"/>
          </p:cNvSpPr>
          <p:nvPr>
            <p:ph type="body" idx="2"/>
          </p:nvPr>
        </p:nvSpPr>
        <p:spPr>
          <a:xfrm>
            <a:off x="492547" y="1467089"/>
            <a:ext cx="4843382" cy="4482297"/>
          </a:xfrm>
        </p:spPr>
        <p:txBody>
          <a:bodyPr>
            <a:normAutofit fontScale="92500" lnSpcReduction="20000"/>
          </a:bodyPr>
          <a:lstStyle/>
          <a:p>
            <a:r>
              <a:rPr lang="en-US" b="1" dirty="0">
                <a:solidFill>
                  <a:srgbClr val="FF0000"/>
                </a:solidFill>
              </a:rPr>
              <a:t>Key Findings:</a:t>
            </a:r>
            <a:endParaRPr lang="en-US" dirty="0">
              <a:solidFill>
                <a:srgbClr val="FF0000"/>
              </a:solidFill>
            </a:endParaRPr>
          </a:p>
          <a:p>
            <a:pPr marL="514350" indent="-285750">
              <a:buFont typeface="Arial" panose="020B0604020202020204" pitchFamily="34" charset="0"/>
              <a:buChar char="•"/>
            </a:pPr>
            <a:r>
              <a:rPr lang="en-US" dirty="0"/>
              <a:t>Overall churn rate is around </a:t>
            </a:r>
            <a:r>
              <a:rPr lang="en-US" b="1" dirty="0"/>
              <a:t>26.5%</a:t>
            </a:r>
            <a:r>
              <a:rPr lang="en-US" dirty="0"/>
              <a:t>.</a:t>
            </a:r>
          </a:p>
          <a:p>
            <a:pPr marL="514350" indent="-285750">
              <a:buFont typeface="Arial" panose="020B0604020202020204" pitchFamily="34" charset="0"/>
              <a:buChar char="•"/>
            </a:pPr>
            <a:r>
              <a:rPr lang="en-US" b="1" dirty="0"/>
              <a:t>Senior Citizens</a:t>
            </a:r>
            <a:r>
              <a:rPr lang="en-US" dirty="0"/>
              <a:t> show a significantly higher churn rate.</a:t>
            </a:r>
          </a:p>
          <a:p>
            <a:pPr marL="514350" indent="-285750">
              <a:buFont typeface="Arial" panose="020B0604020202020204" pitchFamily="34" charset="0"/>
              <a:buChar char="•"/>
            </a:pPr>
            <a:r>
              <a:rPr lang="en-US" b="1" dirty="0"/>
              <a:t>Short-tenure customers (&lt;12 months)</a:t>
            </a:r>
            <a:r>
              <a:rPr lang="en-US" dirty="0"/>
              <a:t> churn the most.</a:t>
            </a:r>
          </a:p>
          <a:p>
            <a:pPr marL="514350" indent="-285750">
              <a:buFont typeface="Arial" panose="020B0604020202020204" pitchFamily="34" charset="0"/>
              <a:buChar char="•"/>
            </a:pPr>
            <a:r>
              <a:rPr lang="en-US" dirty="0"/>
              <a:t>Monthly charges have a positive association with churn risk.</a:t>
            </a:r>
          </a:p>
          <a:p>
            <a:pPr marL="514350" indent="-285750">
              <a:buFont typeface="Arial" panose="020B0604020202020204" pitchFamily="34" charset="0"/>
              <a:buChar char="•"/>
            </a:pPr>
            <a:r>
              <a:rPr lang="en-US" dirty="0"/>
              <a:t>Gender distribution shows churn is </a:t>
            </a:r>
            <a:r>
              <a:rPr lang="en-US" b="1" dirty="0"/>
              <a:t>not</a:t>
            </a:r>
            <a:r>
              <a:rPr lang="en-US" dirty="0"/>
              <a:t> dependent on gender.</a:t>
            </a:r>
          </a:p>
          <a:p>
            <a:r>
              <a:rPr lang="en-US" b="1" dirty="0">
                <a:solidFill>
                  <a:srgbClr val="FF0000"/>
                </a:solidFill>
              </a:rPr>
              <a:t>Visuals Included:</a:t>
            </a:r>
            <a:endParaRPr lang="en-US" dirty="0">
              <a:solidFill>
                <a:srgbClr val="FF0000"/>
              </a:solidFill>
            </a:endParaRPr>
          </a:p>
          <a:p>
            <a:pPr marL="514350" indent="-285750">
              <a:buFont typeface="Arial" panose="020B0604020202020204" pitchFamily="34" charset="0"/>
              <a:buChar char="•"/>
            </a:pPr>
            <a:r>
              <a:rPr lang="en-US" dirty="0"/>
              <a:t>KPI cards (Customers, Churned, Revenue, Avg Charges, Tenure).</a:t>
            </a:r>
          </a:p>
          <a:p>
            <a:pPr marL="514350" indent="-285750">
              <a:buFont typeface="Arial" panose="020B0604020202020204" pitchFamily="34" charset="0"/>
              <a:buChar char="•"/>
            </a:pPr>
            <a:r>
              <a:rPr lang="en-US" dirty="0"/>
              <a:t>Gender Distribution Donut Chart.</a:t>
            </a:r>
          </a:p>
          <a:p>
            <a:pPr marL="514350" indent="-285750">
              <a:buFont typeface="Arial" panose="020B0604020202020204" pitchFamily="34" charset="0"/>
              <a:buChar char="•"/>
            </a:pPr>
            <a:r>
              <a:rPr lang="en-US" dirty="0"/>
              <a:t>Senior Citizen vs Churn Chart.</a:t>
            </a:r>
          </a:p>
          <a:p>
            <a:pPr marL="514350" indent="-285750">
              <a:buFont typeface="Arial" panose="020B0604020202020204" pitchFamily="34" charset="0"/>
              <a:buChar char="•"/>
            </a:pPr>
            <a:r>
              <a:rPr lang="en-US" dirty="0"/>
              <a:t>Tenure Segmentation (Bar + Line).</a:t>
            </a:r>
          </a:p>
          <a:p>
            <a:pPr marL="514350" indent="-285750">
              <a:buFont typeface="Arial" panose="020B0604020202020204" pitchFamily="34" charset="0"/>
              <a:buChar char="•"/>
            </a:pPr>
            <a:r>
              <a:rPr lang="en-US" dirty="0"/>
              <a:t>Monthly Charges vs Tenure Scatter.</a:t>
            </a:r>
          </a:p>
          <a:p>
            <a:endParaRPr lang="en-IN" dirty="0"/>
          </a:p>
        </p:txBody>
      </p:sp>
      <p:pic>
        <p:nvPicPr>
          <p:cNvPr id="8" name="Picture 7">
            <a:extLst>
              <a:ext uri="{FF2B5EF4-FFF2-40B4-BE49-F238E27FC236}">
                <a16:creationId xmlns:a16="http://schemas.microsoft.com/office/drawing/2014/main" id="{C4C43E60-2004-CDC9-2B20-46A482843352}"/>
              </a:ext>
            </a:extLst>
          </p:cNvPr>
          <p:cNvPicPr>
            <a:picLocks noChangeAspect="1"/>
          </p:cNvPicPr>
          <p:nvPr/>
        </p:nvPicPr>
        <p:blipFill>
          <a:blip r:embed="rId2"/>
          <a:stretch>
            <a:fillRect/>
          </a:stretch>
        </p:blipFill>
        <p:spPr>
          <a:xfrm>
            <a:off x="5267787" y="1631671"/>
            <a:ext cx="6853093" cy="4001058"/>
          </a:xfrm>
          <a:prstGeom prst="rect">
            <a:avLst/>
          </a:prstGeom>
        </p:spPr>
      </p:pic>
    </p:spTree>
    <p:extLst>
      <p:ext uri="{BB962C8B-B14F-4D97-AF65-F5344CB8AC3E}">
        <p14:creationId xmlns:p14="http://schemas.microsoft.com/office/powerpoint/2010/main" val="2529585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FF6BC-0643-2F7A-ED83-23FEACE92765}"/>
              </a:ext>
            </a:extLst>
          </p:cNvPr>
          <p:cNvSpPr>
            <a:spLocks noGrp="1"/>
          </p:cNvSpPr>
          <p:nvPr>
            <p:ph type="title"/>
          </p:nvPr>
        </p:nvSpPr>
        <p:spPr>
          <a:xfrm>
            <a:off x="463868" y="325120"/>
            <a:ext cx="4768532" cy="441960"/>
          </a:xfrm>
        </p:spPr>
        <p:txBody>
          <a:bodyPr>
            <a:normAutofit fontScale="90000"/>
          </a:bodyPr>
          <a:lstStyle/>
          <a:p>
            <a:r>
              <a:rPr lang="en-IN" dirty="0">
                <a:solidFill>
                  <a:srgbClr val="FF0000"/>
                </a:solidFill>
              </a:rPr>
              <a:t>Service Subscription Analysis</a:t>
            </a:r>
          </a:p>
        </p:txBody>
      </p:sp>
      <p:sp>
        <p:nvSpPr>
          <p:cNvPr id="4" name="Text Placeholder 3">
            <a:extLst>
              <a:ext uri="{FF2B5EF4-FFF2-40B4-BE49-F238E27FC236}">
                <a16:creationId xmlns:a16="http://schemas.microsoft.com/office/drawing/2014/main" id="{25A77DA9-3B27-8CB3-0989-4D0B597B686C}"/>
              </a:ext>
            </a:extLst>
          </p:cNvPr>
          <p:cNvSpPr>
            <a:spLocks noGrp="1"/>
          </p:cNvSpPr>
          <p:nvPr>
            <p:ph type="body" idx="2"/>
          </p:nvPr>
        </p:nvSpPr>
        <p:spPr>
          <a:xfrm>
            <a:off x="301308" y="1010920"/>
            <a:ext cx="4819332" cy="5156200"/>
          </a:xfrm>
        </p:spPr>
        <p:txBody>
          <a:bodyPr>
            <a:normAutofit lnSpcReduction="10000"/>
          </a:bodyPr>
          <a:lstStyle/>
          <a:p>
            <a:r>
              <a:rPr lang="en-US" b="1" dirty="0">
                <a:solidFill>
                  <a:srgbClr val="FF0000"/>
                </a:solidFill>
              </a:rPr>
              <a:t>Key Insights:</a:t>
            </a:r>
            <a:endParaRPr lang="en-US" dirty="0">
              <a:solidFill>
                <a:srgbClr val="FF0000"/>
              </a:solidFill>
            </a:endParaRPr>
          </a:p>
          <a:p>
            <a:pPr marL="514350" indent="-285750">
              <a:buFont typeface="Arial" panose="020B0604020202020204" pitchFamily="34" charset="0"/>
              <a:buChar char="•"/>
            </a:pPr>
            <a:r>
              <a:rPr lang="en-US" b="1" dirty="0"/>
              <a:t>Fiber optic</a:t>
            </a:r>
            <a:r>
              <a:rPr lang="en-US" dirty="0"/>
              <a:t> internet users have the highest churn rate due to performance or cost issues.</a:t>
            </a:r>
          </a:p>
          <a:p>
            <a:pPr marL="514350" indent="-285750">
              <a:buFont typeface="Arial" panose="020B0604020202020204" pitchFamily="34" charset="0"/>
              <a:buChar char="•"/>
            </a:pPr>
            <a:r>
              <a:rPr lang="en-US" dirty="0"/>
              <a:t>Customers with </a:t>
            </a:r>
            <a:r>
              <a:rPr lang="en-US" b="1" dirty="0"/>
              <a:t>no add-on services</a:t>
            </a:r>
            <a:r>
              <a:rPr lang="en-US" dirty="0"/>
              <a:t> are more likely to churn.</a:t>
            </a:r>
          </a:p>
          <a:p>
            <a:pPr marL="514350" indent="-285750">
              <a:buFont typeface="Arial" panose="020B0604020202020204" pitchFamily="34" charset="0"/>
              <a:buChar char="•"/>
            </a:pPr>
            <a:r>
              <a:rPr lang="en-US" dirty="0"/>
              <a:t>Add-on services like </a:t>
            </a:r>
            <a:r>
              <a:rPr lang="en-US" b="1" dirty="0"/>
              <a:t>Tech Support</a:t>
            </a:r>
            <a:r>
              <a:rPr lang="en-US" dirty="0"/>
              <a:t> and </a:t>
            </a:r>
            <a:r>
              <a:rPr lang="en-US" b="1" dirty="0"/>
              <a:t>Online Security</a:t>
            </a:r>
            <a:r>
              <a:rPr lang="en-US" dirty="0"/>
              <a:t> reduce churn, showing improved satisfaction.</a:t>
            </a:r>
          </a:p>
          <a:p>
            <a:pPr marL="514350" indent="-285750" algn="just">
              <a:buFont typeface="Arial" panose="020B0604020202020204" pitchFamily="34" charset="0"/>
              <a:buChar char="•"/>
            </a:pPr>
            <a:r>
              <a:rPr lang="en-US" dirty="0"/>
              <a:t>More than </a:t>
            </a:r>
            <a:r>
              <a:rPr lang="en-US" b="1" dirty="0"/>
              <a:t>90%</a:t>
            </a:r>
            <a:r>
              <a:rPr lang="en-US" dirty="0"/>
              <a:t> of customers use phone service, but churn is not directly linked to phone service usage.</a:t>
            </a:r>
          </a:p>
          <a:p>
            <a:r>
              <a:rPr lang="en-US" b="1" dirty="0">
                <a:solidFill>
                  <a:srgbClr val="FF0000"/>
                </a:solidFill>
              </a:rPr>
              <a:t>Visuals Included:</a:t>
            </a:r>
            <a:endParaRPr lang="en-US" dirty="0">
              <a:solidFill>
                <a:srgbClr val="FF0000"/>
              </a:solidFill>
            </a:endParaRPr>
          </a:p>
          <a:p>
            <a:pPr marL="514350" indent="-285750">
              <a:buFont typeface="Arial" panose="020B0604020202020204" pitchFamily="34" charset="0"/>
              <a:buChar char="•"/>
            </a:pPr>
            <a:r>
              <a:rPr lang="en-US" dirty="0"/>
              <a:t>Phone Service Distribution.</a:t>
            </a:r>
          </a:p>
          <a:p>
            <a:pPr marL="514350" indent="-285750">
              <a:buFont typeface="Arial" panose="020B0604020202020204" pitchFamily="34" charset="0"/>
              <a:buChar char="•"/>
            </a:pPr>
            <a:r>
              <a:rPr lang="en-US" dirty="0"/>
              <a:t>Churn Rate by Internet Service.</a:t>
            </a:r>
          </a:p>
          <a:p>
            <a:pPr marL="514350" indent="-285750">
              <a:buFont typeface="Arial" panose="020B0604020202020204" pitchFamily="34" charset="0"/>
              <a:buChar char="•"/>
            </a:pPr>
            <a:r>
              <a:rPr lang="en-US" dirty="0"/>
              <a:t>Add-on Services Usage (Bar).</a:t>
            </a:r>
          </a:p>
          <a:p>
            <a:pPr marL="514350" indent="-285750">
              <a:buFont typeface="Arial" panose="020B0604020202020204" pitchFamily="34" charset="0"/>
              <a:buChar char="•"/>
            </a:pPr>
            <a:r>
              <a:rPr lang="en-US" dirty="0"/>
              <a:t>Churn by Add-on Combinations.</a:t>
            </a:r>
          </a:p>
          <a:p>
            <a:pPr marL="514350" indent="-285750">
              <a:buFont typeface="Arial" panose="020B0604020202020204" pitchFamily="34" charset="0"/>
              <a:buChar char="•"/>
            </a:pPr>
            <a:r>
              <a:rPr lang="en-US" dirty="0"/>
              <a:t>Internet vs Contract Type Churn Table.</a:t>
            </a:r>
          </a:p>
          <a:p>
            <a:endParaRPr lang="en-IN" dirty="0"/>
          </a:p>
        </p:txBody>
      </p:sp>
      <p:pic>
        <p:nvPicPr>
          <p:cNvPr id="6" name="Picture 5">
            <a:extLst>
              <a:ext uri="{FF2B5EF4-FFF2-40B4-BE49-F238E27FC236}">
                <a16:creationId xmlns:a16="http://schemas.microsoft.com/office/drawing/2014/main" id="{CC9F0A0A-C62D-B430-D948-A29FDF2A97B8}"/>
              </a:ext>
            </a:extLst>
          </p:cNvPr>
          <p:cNvPicPr>
            <a:picLocks noChangeAspect="1"/>
          </p:cNvPicPr>
          <p:nvPr/>
        </p:nvPicPr>
        <p:blipFill>
          <a:blip r:embed="rId2"/>
          <a:stretch>
            <a:fillRect/>
          </a:stretch>
        </p:blipFill>
        <p:spPr>
          <a:xfrm>
            <a:off x="5156513" y="1550918"/>
            <a:ext cx="7035487" cy="4453642"/>
          </a:xfrm>
          <a:prstGeom prst="rect">
            <a:avLst/>
          </a:prstGeom>
        </p:spPr>
      </p:pic>
    </p:spTree>
    <p:extLst>
      <p:ext uri="{BB962C8B-B14F-4D97-AF65-F5344CB8AC3E}">
        <p14:creationId xmlns:p14="http://schemas.microsoft.com/office/powerpoint/2010/main" val="2073541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76CA2-6DC8-174A-A61A-A06CE178638C}"/>
              </a:ext>
            </a:extLst>
          </p:cNvPr>
          <p:cNvSpPr>
            <a:spLocks noGrp="1"/>
          </p:cNvSpPr>
          <p:nvPr>
            <p:ph type="title"/>
          </p:nvPr>
        </p:nvSpPr>
        <p:spPr>
          <a:xfrm>
            <a:off x="636588" y="325120"/>
            <a:ext cx="4443412" cy="635000"/>
          </a:xfrm>
        </p:spPr>
        <p:txBody>
          <a:bodyPr/>
          <a:lstStyle/>
          <a:p>
            <a:r>
              <a:rPr lang="en-IN" dirty="0">
                <a:solidFill>
                  <a:srgbClr val="FF0000"/>
                </a:solidFill>
              </a:rPr>
              <a:t>Contract &amp; Billing Insights</a:t>
            </a:r>
          </a:p>
        </p:txBody>
      </p:sp>
      <p:sp>
        <p:nvSpPr>
          <p:cNvPr id="4" name="Text Placeholder 3">
            <a:extLst>
              <a:ext uri="{FF2B5EF4-FFF2-40B4-BE49-F238E27FC236}">
                <a16:creationId xmlns:a16="http://schemas.microsoft.com/office/drawing/2014/main" id="{43C07BB1-9737-E3E1-6D17-1E0884CB3BCA}"/>
              </a:ext>
            </a:extLst>
          </p:cNvPr>
          <p:cNvSpPr>
            <a:spLocks noGrp="1"/>
          </p:cNvSpPr>
          <p:nvPr>
            <p:ph type="body" idx="1"/>
          </p:nvPr>
        </p:nvSpPr>
        <p:spPr>
          <a:xfrm>
            <a:off x="280988" y="1295400"/>
            <a:ext cx="4646612" cy="4191000"/>
          </a:xfrm>
        </p:spPr>
        <p:txBody>
          <a:bodyPr>
            <a:normAutofit fontScale="85000" lnSpcReduction="20000"/>
          </a:bodyPr>
          <a:lstStyle/>
          <a:p>
            <a:r>
              <a:rPr lang="en-US" b="1" dirty="0">
                <a:solidFill>
                  <a:srgbClr val="FF0000"/>
                </a:solidFill>
              </a:rPr>
              <a:t>Key Insights:</a:t>
            </a:r>
            <a:endParaRPr lang="en-US" dirty="0">
              <a:solidFill>
                <a:srgbClr val="FF0000"/>
              </a:solidFill>
            </a:endParaRPr>
          </a:p>
          <a:p>
            <a:pPr marL="514350" indent="-285750" algn="just">
              <a:buFont typeface="Arial" panose="020B0604020202020204" pitchFamily="34" charset="0"/>
              <a:buChar char="•"/>
            </a:pPr>
            <a:r>
              <a:rPr lang="en-US" b="1" dirty="0"/>
              <a:t>Month-to-month contracts</a:t>
            </a:r>
            <a:r>
              <a:rPr lang="en-US" dirty="0"/>
              <a:t> have the highest churn rate compared to 1-year or 2-year contracts.</a:t>
            </a:r>
          </a:p>
          <a:p>
            <a:pPr marL="514350" indent="-285750" algn="just">
              <a:buFont typeface="Arial" panose="020B0604020202020204" pitchFamily="34" charset="0"/>
              <a:buChar char="•"/>
            </a:pPr>
            <a:r>
              <a:rPr lang="en-US" b="1" dirty="0"/>
              <a:t>Electronic check</a:t>
            </a:r>
            <a:r>
              <a:rPr lang="en-US" dirty="0"/>
              <a:t> payment method shows the </a:t>
            </a:r>
            <a:r>
              <a:rPr lang="en-US" b="1" dirty="0"/>
              <a:t>highest churn rate</a:t>
            </a:r>
            <a:r>
              <a:rPr lang="en-US" dirty="0"/>
              <a:t>, indicating dissatisfaction or ease of cancellation.</a:t>
            </a:r>
          </a:p>
          <a:p>
            <a:pPr marL="514350" indent="-285750" algn="just">
              <a:buFont typeface="Arial" panose="020B0604020202020204" pitchFamily="34" charset="0"/>
              <a:buChar char="•"/>
            </a:pPr>
            <a:r>
              <a:rPr lang="en-US" dirty="0"/>
              <a:t>Total charges increase with longer contract duration — long-term customers offer higher revenue stability.</a:t>
            </a:r>
          </a:p>
          <a:p>
            <a:pPr marL="514350" indent="-285750" algn="just">
              <a:buFont typeface="Arial" panose="020B0604020202020204" pitchFamily="34" charset="0"/>
              <a:buChar char="•"/>
            </a:pPr>
            <a:r>
              <a:rPr lang="en-US" b="1" dirty="0"/>
              <a:t>Paperless billing</a:t>
            </a:r>
            <a:r>
              <a:rPr lang="en-US" dirty="0"/>
              <a:t> users have a slightly higher churn tendency.</a:t>
            </a:r>
          </a:p>
          <a:p>
            <a:r>
              <a:rPr lang="en-US" b="1" dirty="0">
                <a:solidFill>
                  <a:srgbClr val="FF0000"/>
                </a:solidFill>
              </a:rPr>
              <a:t>Visuals Included:</a:t>
            </a:r>
            <a:endParaRPr lang="en-US" dirty="0">
              <a:solidFill>
                <a:srgbClr val="FF0000"/>
              </a:solidFill>
            </a:endParaRPr>
          </a:p>
          <a:p>
            <a:pPr marL="514350" indent="-285750">
              <a:buFont typeface="Arial" panose="020B0604020202020204" pitchFamily="34" charset="0"/>
              <a:buChar char="•"/>
            </a:pPr>
            <a:r>
              <a:rPr lang="en-US" dirty="0"/>
              <a:t>Churn Rate by Contract Type.</a:t>
            </a:r>
          </a:p>
          <a:p>
            <a:pPr marL="514350" indent="-285750">
              <a:buFont typeface="Arial" panose="020B0604020202020204" pitchFamily="34" charset="0"/>
              <a:buChar char="•"/>
            </a:pPr>
            <a:r>
              <a:rPr lang="en-US" dirty="0"/>
              <a:t>Churn by Payment Method (100% stacked bar).</a:t>
            </a:r>
          </a:p>
          <a:p>
            <a:pPr marL="514350" indent="-285750">
              <a:buFont typeface="Arial" panose="020B0604020202020204" pitchFamily="34" charset="0"/>
              <a:buChar char="•"/>
            </a:pPr>
            <a:r>
              <a:rPr lang="en-US" dirty="0"/>
              <a:t>Avg Total Charges by Contract Type.</a:t>
            </a:r>
          </a:p>
          <a:p>
            <a:pPr marL="514350" indent="-285750">
              <a:buFont typeface="Arial" panose="020B0604020202020204" pitchFamily="34" charset="0"/>
              <a:buChar char="•"/>
            </a:pPr>
            <a:r>
              <a:rPr lang="en-US" dirty="0"/>
              <a:t>Monthly Charges by Payment Method (Box Plot).</a:t>
            </a:r>
          </a:p>
          <a:p>
            <a:pPr marL="514350" indent="-285750">
              <a:buFont typeface="Arial" panose="020B0604020202020204" pitchFamily="34" charset="0"/>
              <a:buChar char="•"/>
            </a:pPr>
            <a:r>
              <a:rPr lang="en-US" dirty="0"/>
              <a:t>Churn by Paperless Billing.</a:t>
            </a:r>
          </a:p>
          <a:p>
            <a:endParaRPr lang="en-IN" dirty="0"/>
          </a:p>
        </p:txBody>
      </p:sp>
      <p:pic>
        <p:nvPicPr>
          <p:cNvPr id="16" name="Picture 15">
            <a:extLst>
              <a:ext uri="{FF2B5EF4-FFF2-40B4-BE49-F238E27FC236}">
                <a16:creationId xmlns:a16="http://schemas.microsoft.com/office/drawing/2014/main" id="{12DD6279-7A49-1B4B-24C1-FAC77C0483E7}"/>
              </a:ext>
            </a:extLst>
          </p:cNvPr>
          <p:cNvPicPr>
            <a:picLocks noChangeAspect="1"/>
          </p:cNvPicPr>
          <p:nvPr/>
        </p:nvPicPr>
        <p:blipFill>
          <a:blip r:embed="rId2"/>
          <a:stretch>
            <a:fillRect/>
          </a:stretch>
        </p:blipFill>
        <p:spPr>
          <a:xfrm>
            <a:off x="5363108" y="1781757"/>
            <a:ext cx="6828892" cy="3877363"/>
          </a:xfrm>
          <a:prstGeom prst="rect">
            <a:avLst/>
          </a:prstGeom>
        </p:spPr>
      </p:pic>
    </p:spTree>
    <p:extLst>
      <p:ext uri="{BB962C8B-B14F-4D97-AF65-F5344CB8AC3E}">
        <p14:creationId xmlns:p14="http://schemas.microsoft.com/office/powerpoint/2010/main" val="2215410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BFF3C-13F2-E778-B493-116875F58169}"/>
              </a:ext>
            </a:extLst>
          </p:cNvPr>
          <p:cNvSpPr>
            <a:spLocks noGrp="1"/>
          </p:cNvSpPr>
          <p:nvPr>
            <p:ph type="title"/>
          </p:nvPr>
        </p:nvSpPr>
        <p:spPr>
          <a:xfrm>
            <a:off x="311468" y="304800"/>
            <a:ext cx="5296852" cy="523240"/>
          </a:xfrm>
        </p:spPr>
        <p:txBody>
          <a:bodyPr>
            <a:normAutofit fontScale="90000"/>
          </a:bodyPr>
          <a:lstStyle/>
          <a:p>
            <a:r>
              <a:rPr lang="en-IN" dirty="0">
                <a:solidFill>
                  <a:srgbClr val="FF0000"/>
                </a:solidFill>
              </a:rPr>
              <a:t>Churn Prediction &amp; Key Drivers</a:t>
            </a:r>
          </a:p>
        </p:txBody>
      </p:sp>
      <p:sp>
        <p:nvSpPr>
          <p:cNvPr id="4" name="Text Placeholder 3">
            <a:extLst>
              <a:ext uri="{FF2B5EF4-FFF2-40B4-BE49-F238E27FC236}">
                <a16:creationId xmlns:a16="http://schemas.microsoft.com/office/drawing/2014/main" id="{F551D231-D384-8122-2A30-74ECF01E654A}"/>
              </a:ext>
            </a:extLst>
          </p:cNvPr>
          <p:cNvSpPr>
            <a:spLocks noGrp="1"/>
          </p:cNvSpPr>
          <p:nvPr>
            <p:ph type="body" idx="2"/>
          </p:nvPr>
        </p:nvSpPr>
        <p:spPr>
          <a:xfrm>
            <a:off x="423228" y="1031240"/>
            <a:ext cx="5053012" cy="4597400"/>
          </a:xfrm>
        </p:spPr>
        <p:txBody>
          <a:bodyPr>
            <a:normAutofit/>
          </a:bodyPr>
          <a:lstStyle/>
          <a:p>
            <a:r>
              <a:rPr lang="en-US" b="1" dirty="0">
                <a:solidFill>
                  <a:srgbClr val="FF0000"/>
                </a:solidFill>
              </a:rPr>
              <a:t>Key Insights:</a:t>
            </a:r>
            <a:endParaRPr lang="en-US" dirty="0">
              <a:solidFill>
                <a:srgbClr val="FF0000"/>
              </a:solidFill>
            </a:endParaRPr>
          </a:p>
          <a:p>
            <a:r>
              <a:rPr lang="en-US" b="1" dirty="0"/>
              <a:t>High-risk customers</a:t>
            </a:r>
            <a:r>
              <a:rPr lang="en-US" dirty="0"/>
              <a:t> were identified using a churn risk scoring model (High, Medium, Low).</a:t>
            </a:r>
          </a:p>
          <a:p>
            <a:r>
              <a:rPr lang="en-US" b="1" dirty="0"/>
              <a:t>Revenue impact:</a:t>
            </a:r>
            <a:endParaRPr lang="en-US" dirty="0"/>
          </a:p>
          <a:p>
            <a:pPr lvl="1"/>
            <a:r>
              <a:rPr lang="en-US" dirty="0"/>
              <a:t>Revenue Lost: </a:t>
            </a:r>
            <a:r>
              <a:rPr lang="en-US" i="1" dirty="0"/>
              <a:t>Approximately $2.86M</a:t>
            </a:r>
            <a:endParaRPr lang="en-US" dirty="0"/>
          </a:p>
          <a:p>
            <a:pPr lvl="1"/>
            <a:r>
              <a:rPr lang="en-US" dirty="0"/>
              <a:t>Revenue Retained: </a:t>
            </a:r>
            <a:r>
              <a:rPr lang="en-US" i="1" dirty="0"/>
              <a:t>Approximately $13.19M</a:t>
            </a:r>
            <a:endParaRPr lang="en-US" dirty="0"/>
          </a:p>
          <a:p>
            <a:r>
              <a:rPr lang="en-US" dirty="0"/>
              <a:t>Customers with </a:t>
            </a:r>
            <a:r>
              <a:rPr lang="en-US" b="1" dirty="0"/>
              <a:t>high monthly charges + low tenure</a:t>
            </a:r>
            <a:r>
              <a:rPr lang="en-US" dirty="0"/>
              <a:t> are the most likely to churn.</a:t>
            </a:r>
          </a:p>
          <a:p>
            <a:r>
              <a:rPr lang="en-US" b="1" dirty="0">
                <a:solidFill>
                  <a:srgbClr val="FF0000"/>
                </a:solidFill>
              </a:rPr>
              <a:t>Visuals Included:</a:t>
            </a:r>
            <a:endParaRPr lang="en-US" dirty="0">
              <a:solidFill>
                <a:srgbClr val="FF0000"/>
              </a:solidFill>
            </a:endParaRPr>
          </a:p>
          <a:p>
            <a:r>
              <a:rPr lang="en-US" dirty="0"/>
              <a:t>Decomposition Tree</a:t>
            </a:r>
          </a:p>
          <a:p>
            <a:r>
              <a:rPr lang="en-US" dirty="0"/>
              <a:t>Churn Risk Score Donut</a:t>
            </a:r>
          </a:p>
          <a:p>
            <a:r>
              <a:rPr lang="en-US" dirty="0"/>
              <a:t>Monthly Charges vs Tenure (Colored by Churn)</a:t>
            </a:r>
          </a:p>
          <a:p>
            <a:endParaRPr lang="en-IN" dirty="0"/>
          </a:p>
        </p:txBody>
      </p:sp>
      <p:pic>
        <p:nvPicPr>
          <p:cNvPr id="6" name="Picture 5">
            <a:extLst>
              <a:ext uri="{FF2B5EF4-FFF2-40B4-BE49-F238E27FC236}">
                <a16:creationId xmlns:a16="http://schemas.microsoft.com/office/drawing/2014/main" id="{35F29EDF-AFAB-2E30-BCE9-FA78ED4B67DB}"/>
              </a:ext>
            </a:extLst>
          </p:cNvPr>
          <p:cNvPicPr>
            <a:picLocks noChangeAspect="1"/>
          </p:cNvPicPr>
          <p:nvPr/>
        </p:nvPicPr>
        <p:blipFill>
          <a:blip r:embed="rId2"/>
          <a:stretch>
            <a:fillRect/>
          </a:stretch>
        </p:blipFill>
        <p:spPr>
          <a:xfrm>
            <a:off x="5407957" y="1205806"/>
            <a:ext cx="6784043" cy="4048968"/>
          </a:xfrm>
          <a:prstGeom prst="rect">
            <a:avLst/>
          </a:prstGeom>
        </p:spPr>
      </p:pic>
    </p:spTree>
    <p:extLst>
      <p:ext uri="{BB962C8B-B14F-4D97-AF65-F5344CB8AC3E}">
        <p14:creationId xmlns:p14="http://schemas.microsoft.com/office/powerpoint/2010/main" val="1173018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C5088-B5EE-7628-62DD-F806D0F71099}"/>
              </a:ext>
            </a:extLst>
          </p:cNvPr>
          <p:cNvSpPr>
            <a:spLocks noGrp="1"/>
          </p:cNvSpPr>
          <p:nvPr>
            <p:ph type="title"/>
          </p:nvPr>
        </p:nvSpPr>
        <p:spPr>
          <a:xfrm>
            <a:off x="828040" y="365125"/>
            <a:ext cx="7614920" cy="782955"/>
          </a:xfrm>
        </p:spPr>
        <p:txBody>
          <a:bodyPr>
            <a:noAutofit/>
          </a:bodyPr>
          <a:lstStyle/>
          <a:p>
            <a:r>
              <a:rPr lang="en-IN" sz="3200" dirty="0">
                <a:solidFill>
                  <a:srgbClr val="FF0000"/>
                </a:solidFill>
              </a:rPr>
              <a:t>Final Business Insights &amp; Recommendations</a:t>
            </a:r>
          </a:p>
        </p:txBody>
      </p:sp>
      <p:sp>
        <p:nvSpPr>
          <p:cNvPr id="3" name="Text Placeholder 2">
            <a:extLst>
              <a:ext uri="{FF2B5EF4-FFF2-40B4-BE49-F238E27FC236}">
                <a16:creationId xmlns:a16="http://schemas.microsoft.com/office/drawing/2014/main" id="{4AF24B9A-1656-5CBB-9377-A75665361D59}"/>
              </a:ext>
            </a:extLst>
          </p:cNvPr>
          <p:cNvSpPr>
            <a:spLocks noGrp="1"/>
          </p:cNvSpPr>
          <p:nvPr>
            <p:ph type="body" idx="1"/>
          </p:nvPr>
        </p:nvSpPr>
        <p:spPr>
          <a:xfrm>
            <a:off x="848360" y="1246504"/>
            <a:ext cx="8966200" cy="5022215"/>
          </a:xfrm>
        </p:spPr>
        <p:txBody>
          <a:bodyPr>
            <a:normAutofit fontScale="40000" lnSpcReduction="20000"/>
          </a:bodyPr>
          <a:lstStyle/>
          <a:p>
            <a:pPr marL="114300" indent="0">
              <a:buNone/>
            </a:pPr>
            <a:r>
              <a:rPr lang="en-US" sz="4200" b="1" dirty="0"/>
              <a:t>1. Improve retention of Month-to-Month customers</a:t>
            </a:r>
          </a:p>
          <a:p>
            <a:r>
              <a:rPr lang="en-US" sz="4200" dirty="0"/>
              <a:t>Offer discounts for upgrading to long-term plans</a:t>
            </a:r>
          </a:p>
          <a:p>
            <a:r>
              <a:rPr lang="en-US" sz="4200" dirty="0"/>
              <a:t>Communicate value of contract stability</a:t>
            </a:r>
          </a:p>
          <a:p>
            <a:pPr marL="114300" indent="0">
              <a:buNone/>
            </a:pPr>
            <a:r>
              <a:rPr lang="en-US" sz="4200" b="1" dirty="0"/>
              <a:t>2. Investigate Fiber Optic churn issues</a:t>
            </a:r>
          </a:p>
          <a:p>
            <a:r>
              <a:rPr lang="en-US" sz="4200" dirty="0"/>
              <a:t>Analyze service complaints</a:t>
            </a:r>
          </a:p>
          <a:p>
            <a:r>
              <a:rPr lang="en-US" sz="4200" dirty="0"/>
              <a:t>Provide competitive pricing or speed upgrades</a:t>
            </a:r>
          </a:p>
          <a:p>
            <a:pPr marL="114300" indent="0">
              <a:buNone/>
            </a:pPr>
            <a:r>
              <a:rPr lang="en-US" sz="4200" b="1" dirty="0"/>
              <a:t>3. Promote Add-on Services</a:t>
            </a:r>
          </a:p>
          <a:p>
            <a:r>
              <a:rPr lang="en-US" sz="4200" dirty="0"/>
              <a:t>Bundle security + device protection + support</a:t>
            </a:r>
          </a:p>
          <a:p>
            <a:r>
              <a:rPr lang="en-US" sz="4200" dirty="0"/>
              <a:t>Offer 1-month free trials to improve adoption</a:t>
            </a:r>
          </a:p>
          <a:p>
            <a:pPr marL="114300" indent="0">
              <a:buNone/>
            </a:pPr>
            <a:r>
              <a:rPr lang="en-US" sz="4200" b="1" dirty="0"/>
              <a:t>4. Reduce churn in high-risk customers</a:t>
            </a:r>
          </a:p>
          <a:p>
            <a:r>
              <a:rPr lang="en-US" sz="4200" dirty="0"/>
              <a:t>Early intervention during the first 3 months</a:t>
            </a:r>
          </a:p>
          <a:p>
            <a:r>
              <a:rPr lang="en-US" sz="4200" dirty="0"/>
              <a:t>Personalized offers for customers with high monthly charges</a:t>
            </a:r>
          </a:p>
          <a:p>
            <a:pPr marL="114300" indent="0">
              <a:buNone/>
            </a:pPr>
            <a:r>
              <a:rPr lang="en-US" sz="4200" b="1" dirty="0"/>
              <a:t>5. Simplify billing experience</a:t>
            </a:r>
          </a:p>
          <a:p>
            <a:r>
              <a:rPr lang="en-US" sz="4200" dirty="0"/>
              <a:t>Reduce friction for electronic check users</a:t>
            </a:r>
          </a:p>
          <a:p>
            <a:r>
              <a:rPr lang="en-US" sz="4200" dirty="0"/>
              <a:t>Encourage switching to more stable payment methods</a:t>
            </a:r>
          </a:p>
          <a:p>
            <a:endParaRPr lang="en-IN" dirty="0"/>
          </a:p>
        </p:txBody>
      </p:sp>
    </p:spTree>
    <p:extLst>
      <p:ext uri="{BB962C8B-B14F-4D97-AF65-F5344CB8AC3E}">
        <p14:creationId xmlns:p14="http://schemas.microsoft.com/office/powerpoint/2010/main" val="2445518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A6E7E-281F-1AD6-F4E7-66F0BA8448E0}"/>
              </a:ext>
            </a:extLst>
          </p:cNvPr>
          <p:cNvSpPr>
            <a:spLocks noGrp="1"/>
          </p:cNvSpPr>
          <p:nvPr>
            <p:ph type="title"/>
          </p:nvPr>
        </p:nvSpPr>
        <p:spPr/>
        <p:txBody>
          <a:bodyPr/>
          <a:lstStyle/>
          <a:p>
            <a:r>
              <a:rPr lang="en-IN" dirty="0">
                <a:solidFill>
                  <a:srgbClr val="FF0000"/>
                </a:solidFill>
              </a:rPr>
              <a:t>Conclusion</a:t>
            </a:r>
          </a:p>
        </p:txBody>
      </p:sp>
      <p:sp>
        <p:nvSpPr>
          <p:cNvPr id="9" name="Rectangle 3">
            <a:extLst>
              <a:ext uri="{FF2B5EF4-FFF2-40B4-BE49-F238E27FC236}">
                <a16:creationId xmlns:a16="http://schemas.microsoft.com/office/drawing/2014/main" id="{78E9C61C-234D-73F3-0D59-DEB18283220B}"/>
              </a:ext>
            </a:extLst>
          </p:cNvPr>
          <p:cNvSpPr>
            <a:spLocks noGrp="1" noChangeArrowheads="1"/>
          </p:cNvSpPr>
          <p:nvPr>
            <p:ph type="body" idx="1"/>
          </p:nvPr>
        </p:nvSpPr>
        <p:spPr bwMode="auto">
          <a:xfrm>
            <a:off x="880869" y="1721200"/>
            <a:ext cx="992937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Customer churn is mainly driven by </a:t>
            </a:r>
            <a:r>
              <a:rPr kumimoji="0" lang="en-US" altLang="en-US" sz="1800" b="1" i="0" u="none" strike="noStrike" cap="none" normalizeH="0" baseline="0" dirty="0">
                <a:ln>
                  <a:noFill/>
                </a:ln>
                <a:solidFill>
                  <a:schemeClr val="tx1"/>
                </a:solidFill>
                <a:effectLst/>
                <a:latin typeface="Arial" panose="020B0604020202020204" pitchFamily="34" charset="0"/>
              </a:rPr>
              <a:t>contract type, internet service quality, monthly charges, and low tenure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Month-to-month customers</a:t>
            </a:r>
            <a:r>
              <a:rPr kumimoji="0" lang="en-US" altLang="en-US" sz="1800" b="0" i="0" u="none" strike="noStrike" cap="none" normalizeH="0" baseline="0" dirty="0">
                <a:ln>
                  <a:noFill/>
                </a:ln>
                <a:solidFill>
                  <a:schemeClr val="tx1"/>
                </a:solidFill>
                <a:effectLst/>
                <a:latin typeface="Arial" panose="020B0604020202020204" pitchFamily="34" charset="0"/>
              </a:rPr>
              <a:t> are the most likely to leave the company.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Fiber optic users</a:t>
            </a:r>
            <a:r>
              <a:rPr kumimoji="0" lang="en-US" altLang="en-US" sz="1800" b="0" i="0" u="none" strike="noStrike" cap="none" normalizeH="0" baseline="0" dirty="0">
                <a:ln>
                  <a:noFill/>
                </a:ln>
                <a:solidFill>
                  <a:schemeClr val="tx1"/>
                </a:solidFill>
                <a:effectLst/>
                <a:latin typeface="Arial" panose="020B0604020202020204" pitchFamily="34" charset="0"/>
              </a:rPr>
              <a:t> show higher churn, indicating possible service or cost issues.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Short-tenure customers (&lt;12 months)</a:t>
            </a:r>
            <a:r>
              <a:rPr kumimoji="0" lang="en-US" altLang="en-US" sz="1800" b="0" i="0" u="none" strike="noStrike" cap="none" normalizeH="0" baseline="0" dirty="0">
                <a:ln>
                  <a:noFill/>
                </a:ln>
                <a:solidFill>
                  <a:schemeClr val="tx1"/>
                </a:solidFill>
                <a:effectLst/>
                <a:latin typeface="Arial" panose="020B0604020202020204" pitchFamily="34" charset="0"/>
              </a:rPr>
              <a:t> churn the most, showing the need for early engagement.</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Customers with </a:t>
            </a:r>
            <a:r>
              <a:rPr kumimoji="0" lang="en-US" altLang="en-US" sz="1800" b="1" i="0" u="none" strike="noStrike" cap="none" normalizeH="0" baseline="0" dirty="0">
                <a:ln>
                  <a:noFill/>
                </a:ln>
                <a:solidFill>
                  <a:schemeClr val="tx1"/>
                </a:solidFill>
                <a:effectLst/>
                <a:latin typeface="Arial" panose="020B0604020202020204" pitchFamily="34" charset="0"/>
              </a:rPr>
              <a:t>no add-on services</a:t>
            </a:r>
            <a:r>
              <a:rPr kumimoji="0" lang="en-US" altLang="en-US" sz="1800" b="0" i="0" u="none" strike="noStrike" cap="none" normalizeH="0" baseline="0" dirty="0">
                <a:ln>
                  <a:noFill/>
                </a:ln>
                <a:solidFill>
                  <a:schemeClr val="tx1"/>
                </a:solidFill>
                <a:effectLst/>
                <a:latin typeface="Arial" panose="020B0604020202020204" pitchFamily="34" charset="0"/>
              </a:rPr>
              <a:t> are more likely to churn.</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Improving customer experience, offering contract upgrades, and targeting high-risk groups can </a:t>
            </a:r>
            <a:r>
              <a:rPr kumimoji="0" lang="en-US" altLang="en-US" sz="1800" b="1" i="0" u="none" strike="noStrike" cap="none" normalizeH="0" baseline="0" dirty="0">
                <a:ln>
                  <a:noFill/>
                </a:ln>
                <a:solidFill>
                  <a:schemeClr val="tx1"/>
                </a:solidFill>
                <a:effectLst/>
                <a:latin typeface="Arial" panose="020B0604020202020204" pitchFamily="34" charset="0"/>
              </a:rPr>
              <a:t>significantly reduce churn</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985562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A8B82-E34C-FCA9-D201-6ECC59892563}"/>
              </a:ext>
            </a:extLst>
          </p:cNvPr>
          <p:cNvSpPr>
            <a:spLocks noGrp="1"/>
          </p:cNvSpPr>
          <p:nvPr>
            <p:ph type="title"/>
          </p:nvPr>
        </p:nvSpPr>
        <p:spPr/>
        <p:txBody>
          <a:bodyPr>
            <a:normAutofit/>
          </a:bodyPr>
          <a:lstStyle/>
          <a:p>
            <a:r>
              <a:rPr lang="en-US" sz="3200" dirty="0">
                <a:solidFill>
                  <a:srgbClr val="FF0000"/>
                </a:solidFill>
              </a:rPr>
              <a:t>Experience / Challenges Working on Power BI</a:t>
            </a:r>
            <a:endParaRPr lang="en-IN" sz="3200" dirty="0">
              <a:solidFill>
                <a:srgbClr val="FF0000"/>
              </a:solidFill>
            </a:endParaRPr>
          </a:p>
        </p:txBody>
      </p:sp>
      <p:sp>
        <p:nvSpPr>
          <p:cNvPr id="3" name="Text Placeholder 2">
            <a:extLst>
              <a:ext uri="{FF2B5EF4-FFF2-40B4-BE49-F238E27FC236}">
                <a16:creationId xmlns:a16="http://schemas.microsoft.com/office/drawing/2014/main" id="{785760CA-9F03-203E-E872-BE2E4BB15444}"/>
              </a:ext>
            </a:extLst>
          </p:cNvPr>
          <p:cNvSpPr>
            <a:spLocks noGrp="1"/>
          </p:cNvSpPr>
          <p:nvPr>
            <p:ph type="body" idx="1"/>
          </p:nvPr>
        </p:nvSpPr>
        <p:spPr/>
        <p:txBody>
          <a:bodyPr>
            <a:normAutofit/>
          </a:bodyPr>
          <a:lstStyle/>
          <a:p>
            <a:pPr marL="114300" indent="0">
              <a:buNone/>
            </a:pPr>
            <a:r>
              <a:rPr lang="en-US" sz="2000" b="1" dirty="0">
                <a:solidFill>
                  <a:srgbClr val="FF0000"/>
                </a:solidFill>
              </a:rPr>
              <a:t>Challenges Faced:</a:t>
            </a:r>
          </a:p>
          <a:p>
            <a:r>
              <a:rPr lang="en-US" sz="2000" dirty="0"/>
              <a:t>Cleaning inconsistent fields in Total Charges</a:t>
            </a:r>
          </a:p>
          <a:p>
            <a:r>
              <a:rPr lang="en-US" sz="2000" dirty="0"/>
              <a:t>Designing pixel-perfect dashboards</a:t>
            </a:r>
          </a:p>
          <a:p>
            <a:r>
              <a:rPr lang="en-US" sz="2000" dirty="0"/>
              <a:t>Creating DAX measures for churn, revenue, segmentation</a:t>
            </a:r>
          </a:p>
          <a:p>
            <a:r>
              <a:rPr lang="en-US" sz="2000" dirty="0"/>
              <a:t>Handling multiple visuals across 4 pages</a:t>
            </a:r>
          </a:p>
          <a:p>
            <a:pPr marL="114300" indent="0">
              <a:buNone/>
            </a:pPr>
            <a:r>
              <a:rPr lang="en-US" sz="2200" b="1" dirty="0">
                <a:solidFill>
                  <a:srgbClr val="FF0000"/>
                </a:solidFill>
              </a:rPr>
              <a:t>Experience Gained:</a:t>
            </a:r>
          </a:p>
          <a:p>
            <a:r>
              <a:rPr lang="en-US" sz="2200" dirty="0"/>
              <a:t>Improved skills in Power BI modeling and DAX</a:t>
            </a:r>
          </a:p>
          <a:p>
            <a:r>
              <a:rPr lang="en-US" sz="2200" dirty="0"/>
              <a:t>Enhanced dashboard storytelling and visualization capabilities</a:t>
            </a:r>
          </a:p>
          <a:p>
            <a:r>
              <a:rPr lang="en-US" sz="2200" dirty="0"/>
              <a:t>Learned to create interactive, insightful multi-page dashboards</a:t>
            </a:r>
          </a:p>
          <a:p>
            <a:r>
              <a:rPr lang="en-US" sz="2200" dirty="0"/>
              <a:t>Real-world experience in solving a meaningful business problem</a:t>
            </a:r>
          </a:p>
          <a:p>
            <a:endParaRPr lang="en-IN" dirty="0"/>
          </a:p>
        </p:txBody>
      </p:sp>
    </p:spTree>
    <p:extLst>
      <p:ext uri="{BB962C8B-B14F-4D97-AF65-F5344CB8AC3E}">
        <p14:creationId xmlns:p14="http://schemas.microsoft.com/office/powerpoint/2010/main" val="231537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TotalTime>
  <Words>885</Words>
  <Application>Microsoft Office PowerPoint</Application>
  <PresentationFormat>Widescreen</PresentationFormat>
  <Paragraphs>115</Paragraphs>
  <Slides>13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Calibri</vt:lpstr>
      <vt:lpstr>Libre Baskerville</vt:lpstr>
      <vt:lpstr>Arial</vt:lpstr>
      <vt:lpstr>Office Theme</vt:lpstr>
      <vt:lpstr>PowerPoint Presentation</vt:lpstr>
      <vt:lpstr>Agenda (This should be the PPT flow)  </vt:lpstr>
      <vt:lpstr>Business Problem Statement</vt:lpstr>
      <vt:lpstr>Objective of the Project </vt:lpstr>
      <vt:lpstr>Key analysis questions</vt:lpstr>
      <vt:lpstr>Customer Overview</vt:lpstr>
      <vt:lpstr>Service Subscription Analysis</vt:lpstr>
      <vt:lpstr>Contract &amp; Billing Insights</vt:lpstr>
      <vt:lpstr>Churn Prediction &amp; Key Drivers</vt:lpstr>
      <vt:lpstr>Final Business Insights &amp; Recommendations</vt:lpstr>
      <vt:lpstr>Conclusion</vt:lpstr>
      <vt:lpstr>Experience / Challenges Working on Power BI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Azeem Abdul</cp:lastModifiedBy>
  <cp:revision>3</cp:revision>
  <dcterms:created xsi:type="dcterms:W3CDTF">2021-02-16T05:19:01Z</dcterms:created>
  <dcterms:modified xsi:type="dcterms:W3CDTF">2025-12-13T03:57:29Z</dcterms:modified>
</cp:coreProperties>
</file>